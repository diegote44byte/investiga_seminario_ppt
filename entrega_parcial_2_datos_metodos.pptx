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5" r:id="rId9"/>
    <p:sldId id="266" r:id="rId10"/>
    <p:sldId id="262" r:id="rId11"/>
    <p:sldId id="267"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3" d="100"/>
          <a:sy n="73" d="100"/>
        </p:scale>
        <p:origin x="40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9DB64-A7D4-4419-B9E4-4651F69F4B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8B806340-EE0A-4BE2-AA00-46EF758EEF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6CD00F47-989F-4128-BFA0-21B75B75418A}"/>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5" name="Footer Placeholder 4">
            <a:extLst>
              <a:ext uri="{FF2B5EF4-FFF2-40B4-BE49-F238E27FC236}">
                <a16:creationId xmlns:a16="http://schemas.microsoft.com/office/drawing/2014/main" id="{616B6599-497E-4732-83FB-7D7D60B60C7D}"/>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A9C71506-E6A5-48FC-BF3D-0D1BDF10261D}"/>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142771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4CAA0-3C21-4C46-8C9C-A17B5058DF08}"/>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C9F0C6F3-227B-4620-8927-A940E00B2DC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0974B3A1-FF27-48CC-B0E2-C0C8DDBD8E4C}"/>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5" name="Footer Placeholder 4">
            <a:extLst>
              <a:ext uri="{FF2B5EF4-FFF2-40B4-BE49-F238E27FC236}">
                <a16:creationId xmlns:a16="http://schemas.microsoft.com/office/drawing/2014/main" id="{AEBDB65D-395E-4213-A5D5-169F9F1CFA3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FEAB7216-F37B-4BF4-8BB8-AAC2638C68B6}"/>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2690035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E96A3-A39F-4B84-8518-A41135802F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22547C61-290B-456D-8926-0199A1D633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94D6BC-A06C-47E4-B078-7AE7B482195E}"/>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5" name="Footer Placeholder 4">
            <a:extLst>
              <a:ext uri="{FF2B5EF4-FFF2-40B4-BE49-F238E27FC236}">
                <a16:creationId xmlns:a16="http://schemas.microsoft.com/office/drawing/2014/main" id="{E85294B4-B4A3-4D13-ACEE-36BCA6FD6E4B}"/>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7F8BF310-179D-4233-8CE6-F5DC52792180}"/>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2302493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93A31-7FF5-4719-A072-EEB95A61FBEA}"/>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0106CA1D-407A-4E5F-8D69-4299A94232B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3E2131C0-72ED-469D-A30F-DFED2247176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6B7B9B2D-6D29-4111-ADC7-24EF5FAA45A2}"/>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6" name="Footer Placeholder 5">
            <a:extLst>
              <a:ext uri="{FF2B5EF4-FFF2-40B4-BE49-F238E27FC236}">
                <a16:creationId xmlns:a16="http://schemas.microsoft.com/office/drawing/2014/main" id="{ABBB960F-F44A-46A6-9D58-BC1393F43E6C}"/>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78957CB9-48D8-4083-A41C-31B44DC0A107}"/>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637250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A97FE-51C9-4F5E-89FD-FC29535ABE1E}"/>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E94C0682-17F5-474C-B493-9466541BA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9F2A938-F2C9-4D1C-826C-6BB87FF3139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686A4860-EA69-4BD3-94C2-B21B928501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12F0010-9543-4129-8236-281E11EC19D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72ADC685-392D-4B9C-8FFE-0F8086D8F76A}"/>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8" name="Footer Placeholder 7">
            <a:extLst>
              <a:ext uri="{FF2B5EF4-FFF2-40B4-BE49-F238E27FC236}">
                <a16:creationId xmlns:a16="http://schemas.microsoft.com/office/drawing/2014/main" id="{F4BB04F0-EA4A-4078-AE1A-C6EEB8BA29CB}"/>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65043713-0B12-47EB-B4EE-8AEF3C17ABDA}"/>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3881392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0506-39EE-47D9-A1AF-39F2DD76504F}"/>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169D28FD-C87B-43D4-9923-74E8B26E9161}"/>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4" name="Footer Placeholder 3">
            <a:extLst>
              <a:ext uri="{FF2B5EF4-FFF2-40B4-BE49-F238E27FC236}">
                <a16:creationId xmlns:a16="http://schemas.microsoft.com/office/drawing/2014/main" id="{D477C786-60EF-4947-96DB-1DFDD1EFAADA}"/>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8F3097BC-1707-4B45-9D73-14EADEDF2DE2}"/>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4152038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AE79AA-0E6A-481F-BB01-7EF8B1EAD227}"/>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3" name="Footer Placeholder 2">
            <a:extLst>
              <a:ext uri="{FF2B5EF4-FFF2-40B4-BE49-F238E27FC236}">
                <a16:creationId xmlns:a16="http://schemas.microsoft.com/office/drawing/2014/main" id="{8E3C0F0E-DC0E-4648-A37E-1C4A206557FF}"/>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09B0593C-0379-4ABE-9563-0509EECE8237}"/>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389280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3CC2-02BC-4207-B86E-4226B8CBF1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8EB6A725-53DB-4456-8ABD-68CABE7A51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F11F03EB-33DF-4FFD-B9B8-E99E1DF172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1E2786-7531-445F-A3BD-AB602825905F}"/>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6" name="Footer Placeholder 5">
            <a:extLst>
              <a:ext uri="{FF2B5EF4-FFF2-40B4-BE49-F238E27FC236}">
                <a16:creationId xmlns:a16="http://schemas.microsoft.com/office/drawing/2014/main" id="{FE5BD78F-DF94-485A-82FA-8C5C27C5A7FA}"/>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C18929D0-30FA-4072-A713-372148F04873}"/>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1247264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65D7-D412-4C74-8FC0-EF886344C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7BE28116-93FD-419B-B585-AE6793DD4C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8432BA0C-6A48-460F-AA08-609E5D85B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5831741-9640-41DB-B228-238A56DA767E}"/>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6" name="Footer Placeholder 5">
            <a:extLst>
              <a:ext uri="{FF2B5EF4-FFF2-40B4-BE49-F238E27FC236}">
                <a16:creationId xmlns:a16="http://schemas.microsoft.com/office/drawing/2014/main" id="{4FE077DA-3CE4-41B0-B955-1DE7848794A4}"/>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93FC9C1-EA32-4EAD-A146-5A82F632D1FA}"/>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922957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CE4DE-AF22-4211-81C4-4CC6336B2FA7}"/>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A707B55A-7B44-4702-96E2-A4C74FF5774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5710D832-3F0B-41B5-BB9F-610EFA91CC40}"/>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5" name="Footer Placeholder 4">
            <a:extLst>
              <a:ext uri="{FF2B5EF4-FFF2-40B4-BE49-F238E27FC236}">
                <a16:creationId xmlns:a16="http://schemas.microsoft.com/office/drawing/2014/main" id="{B42B7B6A-6617-4E18-9CE3-D27B1197A735}"/>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E34C4C9-74E7-4EAC-B737-6A932D5AFA52}"/>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1933128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CB2D21-2C20-4493-A90E-AD533E6EB0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80B3BF24-CC79-490F-BDCF-0C1D7DE7C2B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3A8EBFA-519F-4CF8-B49D-6C3F25D43FD4}"/>
              </a:ext>
            </a:extLst>
          </p:cNvPr>
          <p:cNvSpPr>
            <a:spLocks noGrp="1"/>
          </p:cNvSpPr>
          <p:nvPr>
            <p:ph type="dt" sz="half" idx="10"/>
          </p:nvPr>
        </p:nvSpPr>
        <p:spPr/>
        <p:txBody>
          <a:bodyPr/>
          <a:lstStyle/>
          <a:p>
            <a:fld id="{27B236C9-D1DF-4FD6-B439-4F2C26E78B3C}" type="datetimeFigureOut">
              <a:rPr lang="es-MX" smtClean="0"/>
              <a:t>07/05/2026</a:t>
            </a:fld>
            <a:endParaRPr lang="es-MX"/>
          </a:p>
        </p:txBody>
      </p:sp>
      <p:sp>
        <p:nvSpPr>
          <p:cNvPr id="5" name="Footer Placeholder 4">
            <a:extLst>
              <a:ext uri="{FF2B5EF4-FFF2-40B4-BE49-F238E27FC236}">
                <a16:creationId xmlns:a16="http://schemas.microsoft.com/office/drawing/2014/main" id="{EE0F927F-BB93-470A-A271-B9BB7A0CF110}"/>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4853D52-1F6D-4394-855E-899DA05A382C}"/>
              </a:ext>
            </a:extLst>
          </p:cNvPr>
          <p:cNvSpPr>
            <a:spLocks noGrp="1"/>
          </p:cNvSpPr>
          <p:nvPr>
            <p:ph type="sldNum" sz="quarter" idx="12"/>
          </p:nvPr>
        </p:nvSpPr>
        <p:spPr/>
        <p:txBody>
          <a:bodyPr/>
          <a:lstStyle/>
          <a:p>
            <a:fld id="{FD23C008-9DD4-42F4-BE3D-0D1F948B306D}" type="slidenum">
              <a:rPr lang="es-MX" smtClean="0"/>
              <a:t>‹#›</a:t>
            </a:fld>
            <a:endParaRPr lang="es-MX"/>
          </a:p>
        </p:txBody>
      </p:sp>
    </p:spTree>
    <p:extLst>
      <p:ext uri="{BB962C8B-B14F-4D97-AF65-F5344CB8AC3E}">
        <p14:creationId xmlns:p14="http://schemas.microsoft.com/office/powerpoint/2010/main" val="2802574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AE8199-B11A-405E-AC9F-9E662195E0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2C77FBB7-E9AB-445F-9CDD-89BF15E950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3EC7691A-4580-49E7-9FE8-679DAAAC25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B236C9-D1DF-4FD6-B439-4F2C26E78B3C}" type="datetimeFigureOut">
              <a:rPr lang="es-MX" smtClean="0"/>
              <a:t>07/05/2026</a:t>
            </a:fld>
            <a:endParaRPr lang="es-MX"/>
          </a:p>
        </p:txBody>
      </p:sp>
      <p:sp>
        <p:nvSpPr>
          <p:cNvPr id="5" name="Footer Placeholder 4">
            <a:extLst>
              <a:ext uri="{FF2B5EF4-FFF2-40B4-BE49-F238E27FC236}">
                <a16:creationId xmlns:a16="http://schemas.microsoft.com/office/drawing/2014/main" id="{E1F5C763-06DF-4D43-8A67-156042C78A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a:extLst>
              <a:ext uri="{FF2B5EF4-FFF2-40B4-BE49-F238E27FC236}">
                <a16:creationId xmlns:a16="http://schemas.microsoft.com/office/drawing/2014/main" id="{EC198B5C-90B2-4500-B472-30EB5FD2B0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3C008-9DD4-42F4-BE3D-0D1F948B306D}" type="slidenum">
              <a:rPr lang="es-MX" smtClean="0"/>
              <a:t>‹#›</a:t>
            </a:fld>
            <a:endParaRPr lang="es-MX"/>
          </a:p>
        </p:txBody>
      </p:sp>
    </p:spTree>
    <p:extLst>
      <p:ext uri="{BB962C8B-B14F-4D97-AF65-F5344CB8AC3E}">
        <p14:creationId xmlns:p14="http://schemas.microsoft.com/office/powerpoint/2010/main" val="2607583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doi.org/10.1111/roie.12587" TargetMode="External"/><Relationship Id="rId3" Type="http://schemas.openxmlformats.org/officeDocument/2006/relationships/hyperlink" Target="https://doi.org/10.1111/roie.12673" TargetMode="External"/><Relationship Id="rId7" Type="http://schemas.openxmlformats.org/officeDocument/2006/relationships/hyperlink" Target="https://doi.org/10.18800/agenda.201901.003" TargetMode="External"/><Relationship Id="rId2" Type="http://schemas.openxmlformats.org/officeDocument/2006/relationships/hyperlink" Target="https://www.jstor.org/stable/27133182" TargetMode="External"/><Relationship Id="rId1" Type="http://schemas.openxmlformats.org/officeDocument/2006/relationships/slideLayout" Target="../slideLayouts/slideLayout2.xml"/><Relationship Id="rId6" Type="http://schemas.openxmlformats.org/officeDocument/2006/relationships/hyperlink" Target="https://doi.org/10.1146/annurev-economics-082222-082019" TargetMode="External"/><Relationship Id="rId5" Type="http://schemas.openxmlformats.org/officeDocument/2006/relationships/hyperlink" Target="http://www.jstor.org/stable/45172332" TargetMode="External"/><Relationship Id="rId4" Type="http://schemas.openxmlformats.org/officeDocument/2006/relationships/hyperlink" Target="https://doi.org/10.5354/0719-9368.2019.56351"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comtradeplus.un.org/" TargetMode="External"/><Relationship Id="rId3" Type="http://schemas.openxmlformats.org/officeDocument/2006/relationships/hyperlink" Target="https://doi.pucp.elogim.com/10.1111/twec.13098" TargetMode="External"/><Relationship Id="rId7" Type="http://schemas.openxmlformats.org/officeDocument/2006/relationships/hyperlink" Target="https://data.worldbank.org/?utm_source=chatgpt.com" TargetMode="External"/><Relationship Id="rId2" Type="http://schemas.openxmlformats.org/officeDocument/2006/relationships/hyperlink" Target="https://doi.org/10.1080/09638199.2023.2260010" TargetMode="External"/><Relationship Id="rId1" Type="http://schemas.openxmlformats.org/officeDocument/2006/relationships/slideLayout" Target="../slideLayouts/slideLayout2.xml"/><Relationship Id="rId6" Type="http://schemas.openxmlformats.org/officeDocument/2006/relationships/hyperlink" Target="https://doi.org/10.18800/economia.202301.002" TargetMode="External"/><Relationship Id="rId5" Type="http://schemas.openxmlformats.org/officeDocument/2006/relationships/hyperlink" Target="https://doi.org/10.18800/economia.202102.003" TargetMode="External"/><Relationship Id="rId4" Type="http://schemas.openxmlformats.org/officeDocument/2006/relationships/hyperlink" Target="https://doi.org/10.18235/000207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B676B-719E-482F-BA5A-1BB067E2FCAA}"/>
              </a:ext>
            </a:extLst>
          </p:cNvPr>
          <p:cNvSpPr>
            <a:spLocks noGrp="1"/>
          </p:cNvSpPr>
          <p:nvPr>
            <p:ph type="ctrTitle"/>
          </p:nvPr>
        </p:nvSpPr>
        <p:spPr>
          <a:xfrm>
            <a:off x="1375955" y="1827756"/>
            <a:ext cx="9144000" cy="2387600"/>
          </a:xfrm>
        </p:spPr>
        <p:txBody>
          <a:bodyPr>
            <a:noAutofit/>
          </a:bodyPr>
          <a:lstStyle/>
          <a:p>
            <a:br>
              <a:rPr lang="es-MX" sz="4400" dirty="0"/>
            </a:br>
            <a:r>
              <a:rPr lang="es-MX" sz="4400" dirty="0"/>
              <a:t>“Estimando del efecto de las importaciones chinas sobre el empleo  en el sector manufacturero : evidencia para el periodo (2010–2019)”</a:t>
            </a:r>
          </a:p>
        </p:txBody>
      </p:sp>
      <p:sp>
        <p:nvSpPr>
          <p:cNvPr id="3" name="Subtitle 2">
            <a:extLst>
              <a:ext uri="{FF2B5EF4-FFF2-40B4-BE49-F238E27FC236}">
                <a16:creationId xmlns:a16="http://schemas.microsoft.com/office/drawing/2014/main" id="{49FB7A14-7942-4A9D-85C1-3C26778BE5DB}"/>
              </a:ext>
            </a:extLst>
          </p:cNvPr>
          <p:cNvSpPr>
            <a:spLocks noGrp="1"/>
          </p:cNvSpPr>
          <p:nvPr>
            <p:ph type="subTitle" idx="1"/>
          </p:nvPr>
        </p:nvSpPr>
        <p:spPr>
          <a:xfrm>
            <a:off x="1524000" y="6005604"/>
            <a:ext cx="9144000" cy="456157"/>
          </a:xfrm>
        </p:spPr>
        <p:txBody>
          <a:bodyPr/>
          <a:lstStyle/>
          <a:p>
            <a:r>
              <a:rPr lang="en-US" dirty="0"/>
              <a:t>Diego </a:t>
            </a:r>
            <a:r>
              <a:rPr lang="en-US" dirty="0" err="1"/>
              <a:t>Tumba</a:t>
            </a:r>
            <a:r>
              <a:rPr lang="en-US" dirty="0"/>
              <a:t> Espinoza</a:t>
            </a:r>
            <a:endParaRPr lang="es-MX" dirty="0"/>
          </a:p>
        </p:txBody>
      </p:sp>
    </p:spTree>
    <p:extLst>
      <p:ext uri="{BB962C8B-B14F-4D97-AF65-F5344CB8AC3E}">
        <p14:creationId xmlns:p14="http://schemas.microsoft.com/office/powerpoint/2010/main" val="2982541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E26C7-E3C9-48B4-A8A8-80E8EBE5DEAF}"/>
              </a:ext>
            </a:extLst>
          </p:cNvPr>
          <p:cNvSpPr>
            <a:spLocks noGrp="1"/>
          </p:cNvSpPr>
          <p:nvPr>
            <p:ph type="title"/>
          </p:nvPr>
        </p:nvSpPr>
        <p:spPr>
          <a:xfrm>
            <a:off x="838200" y="330291"/>
            <a:ext cx="10515600" cy="1325563"/>
          </a:xfrm>
        </p:spPr>
        <p:txBody>
          <a:bodyPr/>
          <a:lstStyle/>
          <a:p>
            <a:r>
              <a:rPr lang="en-US" dirty="0"/>
              <a:t>Estado del </a:t>
            </a:r>
            <a:r>
              <a:rPr lang="en-US" dirty="0" err="1"/>
              <a:t>Arte</a:t>
            </a:r>
            <a:endParaRPr lang="es-MX" dirty="0"/>
          </a:p>
        </p:txBody>
      </p:sp>
      <p:sp>
        <p:nvSpPr>
          <p:cNvPr id="4" name="Rectangle: Rounded Corners 3">
            <a:extLst>
              <a:ext uri="{FF2B5EF4-FFF2-40B4-BE49-F238E27FC236}">
                <a16:creationId xmlns:a16="http://schemas.microsoft.com/office/drawing/2014/main" id="{4179A284-1E81-469D-AE3D-1F1940886000}"/>
              </a:ext>
            </a:extLst>
          </p:cNvPr>
          <p:cNvSpPr/>
          <p:nvPr/>
        </p:nvSpPr>
        <p:spPr>
          <a:xfrm>
            <a:off x="1062445" y="3021874"/>
            <a:ext cx="4511040" cy="164592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tx1"/>
                </a:solidFill>
              </a:rPr>
              <a:t>Shock de </a:t>
            </a:r>
            <a:r>
              <a:rPr lang="en-US" sz="1700" dirty="0" err="1">
                <a:solidFill>
                  <a:schemeClr val="tx1"/>
                </a:solidFill>
              </a:rPr>
              <a:t>Importaciones</a:t>
            </a:r>
            <a:r>
              <a:rPr lang="en-US" sz="1700" dirty="0">
                <a:solidFill>
                  <a:schemeClr val="tx1"/>
                </a:solidFill>
              </a:rPr>
              <a:t> y </a:t>
            </a:r>
            <a:r>
              <a:rPr lang="en-US" sz="1700" dirty="0" err="1">
                <a:solidFill>
                  <a:schemeClr val="tx1"/>
                </a:solidFill>
              </a:rPr>
              <a:t>variaci</a:t>
            </a:r>
            <a:r>
              <a:rPr lang="es-MX" sz="1700" dirty="0" err="1">
                <a:solidFill>
                  <a:schemeClr val="tx1"/>
                </a:solidFill>
              </a:rPr>
              <a:t>ó</a:t>
            </a:r>
            <a:r>
              <a:rPr lang="en-US" sz="1700" dirty="0">
                <a:solidFill>
                  <a:schemeClr val="tx1"/>
                </a:solidFill>
              </a:rPr>
              <a:t>n del </a:t>
            </a:r>
            <a:r>
              <a:rPr lang="en-US" sz="1700" dirty="0" err="1">
                <a:solidFill>
                  <a:schemeClr val="tx1"/>
                </a:solidFill>
              </a:rPr>
              <a:t>empleo</a:t>
            </a:r>
            <a:endParaRPr lang="en-US" sz="1700" dirty="0">
              <a:solidFill>
                <a:schemeClr val="tx1"/>
              </a:solidFill>
            </a:endParaRPr>
          </a:p>
          <a:p>
            <a:pPr algn="ctr"/>
            <a:r>
              <a:rPr lang="es-MX" sz="1700" dirty="0">
                <a:solidFill>
                  <a:schemeClr val="tx1"/>
                </a:solidFill>
              </a:rPr>
              <a:t>Autor et al (2021) </a:t>
            </a:r>
          </a:p>
          <a:p>
            <a:pPr algn="ctr"/>
            <a:r>
              <a:rPr lang="en-US" sz="1700" dirty="0">
                <a:solidFill>
                  <a:schemeClr val="tx1"/>
                </a:solidFill>
              </a:rPr>
              <a:t>Caliendo et al (2019)</a:t>
            </a:r>
            <a:endParaRPr lang="es-MX" sz="1700" dirty="0">
              <a:solidFill>
                <a:schemeClr val="tx1"/>
              </a:solidFill>
            </a:endParaRPr>
          </a:p>
          <a:p>
            <a:pPr algn="ctr"/>
            <a:r>
              <a:rPr lang="en-US" sz="1700" dirty="0">
                <a:solidFill>
                  <a:schemeClr val="tx1"/>
                </a:solidFill>
              </a:rPr>
              <a:t>Caliendo &amp; </a:t>
            </a:r>
            <a:r>
              <a:rPr lang="en-US" sz="1700" dirty="0" err="1">
                <a:solidFill>
                  <a:schemeClr val="tx1"/>
                </a:solidFill>
              </a:rPr>
              <a:t>Parro</a:t>
            </a:r>
            <a:r>
              <a:rPr lang="en-US" sz="1700" dirty="0">
                <a:solidFill>
                  <a:schemeClr val="tx1"/>
                </a:solidFill>
              </a:rPr>
              <a:t> (2023)</a:t>
            </a:r>
          </a:p>
          <a:p>
            <a:pPr algn="ctr"/>
            <a:r>
              <a:rPr lang="en-US" sz="1700" dirty="0">
                <a:solidFill>
                  <a:schemeClr val="tx1"/>
                </a:solidFill>
              </a:rPr>
              <a:t>Kiyota et al (2021)</a:t>
            </a:r>
          </a:p>
          <a:p>
            <a:pPr algn="ctr"/>
            <a:r>
              <a:rPr lang="es-MX" sz="1700" dirty="0">
                <a:solidFill>
                  <a:schemeClr val="tx1"/>
                </a:solidFill>
              </a:rPr>
              <a:t>Mercado et al. (2019)</a:t>
            </a:r>
            <a:endParaRPr lang="en-US" sz="1700" dirty="0">
              <a:solidFill>
                <a:schemeClr val="tx1"/>
              </a:solidFill>
            </a:endParaRPr>
          </a:p>
        </p:txBody>
      </p:sp>
      <p:sp>
        <p:nvSpPr>
          <p:cNvPr id="5" name="Rectangle: Rounded Corners 4">
            <a:extLst>
              <a:ext uri="{FF2B5EF4-FFF2-40B4-BE49-F238E27FC236}">
                <a16:creationId xmlns:a16="http://schemas.microsoft.com/office/drawing/2014/main" id="{4F268528-CCF9-48A2-AE69-954D3DBD8097}"/>
              </a:ext>
            </a:extLst>
          </p:cNvPr>
          <p:cNvSpPr/>
          <p:nvPr/>
        </p:nvSpPr>
        <p:spPr>
          <a:xfrm>
            <a:off x="7219406" y="1489166"/>
            <a:ext cx="3474720" cy="12540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tx1"/>
                </a:solidFill>
              </a:rPr>
              <a:t>TLC entre Per</a:t>
            </a:r>
            <a:r>
              <a:rPr lang="es-MX" sz="1700" dirty="0">
                <a:solidFill>
                  <a:schemeClr val="tx1"/>
                </a:solidFill>
              </a:rPr>
              <a:t>ú</a:t>
            </a:r>
            <a:r>
              <a:rPr lang="en-US" sz="1700" dirty="0">
                <a:solidFill>
                  <a:schemeClr val="tx1"/>
                </a:solidFill>
              </a:rPr>
              <a:t> y China</a:t>
            </a:r>
          </a:p>
          <a:p>
            <a:pPr algn="ctr"/>
            <a:r>
              <a:rPr lang="es-MX" sz="1700" dirty="0">
                <a:solidFill>
                  <a:schemeClr val="tx1"/>
                </a:solidFill>
              </a:rPr>
              <a:t>Chan, J. (2019)</a:t>
            </a:r>
          </a:p>
          <a:p>
            <a:pPr algn="ctr"/>
            <a:r>
              <a:rPr lang="en-US" sz="1700" dirty="0" err="1">
                <a:solidFill>
                  <a:schemeClr val="tx1"/>
                </a:solidFill>
              </a:rPr>
              <a:t>Fairlie</a:t>
            </a:r>
            <a:r>
              <a:rPr lang="en-US" sz="1700" dirty="0">
                <a:solidFill>
                  <a:schemeClr val="tx1"/>
                </a:solidFill>
              </a:rPr>
              <a:t> </a:t>
            </a:r>
            <a:r>
              <a:rPr lang="en-US" sz="1700" dirty="0" err="1">
                <a:solidFill>
                  <a:schemeClr val="tx1"/>
                </a:solidFill>
              </a:rPr>
              <a:t>Reinoso</a:t>
            </a:r>
            <a:r>
              <a:rPr lang="en-US" sz="1700" dirty="0">
                <a:solidFill>
                  <a:schemeClr val="tx1"/>
                </a:solidFill>
              </a:rPr>
              <a:t>, A. (2020)</a:t>
            </a:r>
            <a:endParaRPr lang="es-MX" sz="1700" dirty="0">
              <a:solidFill>
                <a:schemeClr val="tx1"/>
              </a:solidFill>
            </a:endParaRPr>
          </a:p>
          <a:p>
            <a:pPr algn="ctr"/>
            <a:r>
              <a:rPr lang="es-MX" sz="1700" dirty="0">
                <a:solidFill>
                  <a:schemeClr val="tx1"/>
                </a:solidFill>
              </a:rPr>
              <a:t>Tello &amp; Tello-Trillo, (2023)</a:t>
            </a:r>
          </a:p>
        </p:txBody>
      </p:sp>
      <p:sp>
        <p:nvSpPr>
          <p:cNvPr id="7" name="Rectangle: Rounded Corners 6">
            <a:extLst>
              <a:ext uri="{FF2B5EF4-FFF2-40B4-BE49-F238E27FC236}">
                <a16:creationId xmlns:a16="http://schemas.microsoft.com/office/drawing/2014/main" id="{87443F25-5F01-46CF-B602-B9319D79FB44}"/>
              </a:ext>
            </a:extLst>
          </p:cNvPr>
          <p:cNvSpPr/>
          <p:nvPr/>
        </p:nvSpPr>
        <p:spPr>
          <a:xfrm>
            <a:off x="7219406" y="4421505"/>
            <a:ext cx="3474720" cy="12540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err="1">
                <a:solidFill>
                  <a:schemeClr val="tx1"/>
                </a:solidFill>
              </a:rPr>
              <a:t>Identificaci</a:t>
            </a:r>
            <a:r>
              <a:rPr lang="es-MX" sz="1700" dirty="0" err="1">
                <a:solidFill>
                  <a:schemeClr val="tx1"/>
                </a:solidFill>
              </a:rPr>
              <a:t>ó</a:t>
            </a:r>
            <a:r>
              <a:rPr lang="en-US" sz="1700" dirty="0">
                <a:solidFill>
                  <a:schemeClr val="tx1"/>
                </a:solidFill>
              </a:rPr>
              <a:t>n causal</a:t>
            </a:r>
          </a:p>
          <a:p>
            <a:pPr algn="ctr"/>
            <a:r>
              <a:rPr lang="en-US" sz="1700" dirty="0">
                <a:solidFill>
                  <a:schemeClr val="tx1"/>
                </a:solidFill>
              </a:rPr>
              <a:t>Morales et al (2021)</a:t>
            </a:r>
          </a:p>
          <a:p>
            <a:pPr algn="ctr"/>
            <a:r>
              <a:rPr lang="en-US" sz="1700" dirty="0">
                <a:solidFill>
                  <a:schemeClr val="tx1"/>
                </a:solidFill>
              </a:rPr>
              <a:t>Fischer et al (2023)</a:t>
            </a:r>
            <a:endParaRPr lang="es-MX" sz="1700" dirty="0">
              <a:solidFill>
                <a:schemeClr val="tx1"/>
              </a:solidFill>
            </a:endParaRPr>
          </a:p>
        </p:txBody>
      </p:sp>
    </p:spTree>
    <p:extLst>
      <p:ext uri="{BB962C8B-B14F-4D97-AF65-F5344CB8AC3E}">
        <p14:creationId xmlns:p14="http://schemas.microsoft.com/office/powerpoint/2010/main" val="1678349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5347-E509-41A0-B4D3-E687DAF6AE3D}"/>
              </a:ext>
            </a:extLst>
          </p:cNvPr>
          <p:cNvSpPr>
            <a:spLocks noGrp="1"/>
          </p:cNvSpPr>
          <p:nvPr>
            <p:ph type="title"/>
          </p:nvPr>
        </p:nvSpPr>
        <p:spPr/>
        <p:txBody>
          <a:bodyPr/>
          <a:lstStyle/>
          <a:p>
            <a:r>
              <a:rPr lang="en-US" dirty="0" err="1"/>
              <a:t>Brecha</a:t>
            </a:r>
            <a:endParaRPr lang="es-MX" dirty="0"/>
          </a:p>
        </p:txBody>
      </p:sp>
      <p:sp>
        <p:nvSpPr>
          <p:cNvPr id="3" name="Content Placeholder 2">
            <a:extLst>
              <a:ext uri="{FF2B5EF4-FFF2-40B4-BE49-F238E27FC236}">
                <a16:creationId xmlns:a16="http://schemas.microsoft.com/office/drawing/2014/main" id="{9AA480CD-0D48-4B93-80B5-5813F2BC59C1}"/>
              </a:ext>
            </a:extLst>
          </p:cNvPr>
          <p:cNvSpPr>
            <a:spLocks noGrp="1"/>
          </p:cNvSpPr>
          <p:nvPr>
            <p:ph idx="1"/>
          </p:nvPr>
        </p:nvSpPr>
        <p:spPr>
          <a:xfrm>
            <a:off x="838200" y="2748734"/>
            <a:ext cx="10515600" cy="2110649"/>
          </a:xfrm>
        </p:spPr>
        <p:txBody>
          <a:bodyPr/>
          <a:lstStyle/>
          <a:p>
            <a:r>
              <a:rPr lang="es-MX" dirty="0"/>
              <a:t>Evaluación agregada del impacto de importaciones chinas en el empleo</a:t>
            </a:r>
          </a:p>
          <a:p>
            <a:r>
              <a:rPr lang="es-MX" dirty="0"/>
              <a:t>La estrategia de identificación convencional, el presente trabajo aborda la limitación metodológica señalada por Fischer et al. (2023).</a:t>
            </a:r>
          </a:p>
        </p:txBody>
      </p:sp>
    </p:spTree>
    <p:extLst>
      <p:ext uri="{BB962C8B-B14F-4D97-AF65-F5344CB8AC3E}">
        <p14:creationId xmlns:p14="http://schemas.microsoft.com/office/powerpoint/2010/main" val="321676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42F03-F955-4731-BD9D-D7E227313798}"/>
              </a:ext>
            </a:extLst>
          </p:cNvPr>
          <p:cNvSpPr>
            <a:spLocks noGrp="1"/>
          </p:cNvSpPr>
          <p:nvPr>
            <p:ph type="title"/>
          </p:nvPr>
        </p:nvSpPr>
        <p:spPr/>
        <p:txBody>
          <a:bodyPr/>
          <a:lstStyle/>
          <a:p>
            <a:r>
              <a:rPr lang="en-US" dirty="0" err="1"/>
              <a:t>Pregunta</a:t>
            </a:r>
            <a:r>
              <a:rPr lang="en-US" dirty="0"/>
              <a:t> </a:t>
            </a:r>
            <a:endParaRPr lang="es-MX" dirty="0"/>
          </a:p>
        </p:txBody>
      </p:sp>
      <p:sp>
        <p:nvSpPr>
          <p:cNvPr id="3" name="Content Placeholder 2">
            <a:extLst>
              <a:ext uri="{FF2B5EF4-FFF2-40B4-BE49-F238E27FC236}">
                <a16:creationId xmlns:a16="http://schemas.microsoft.com/office/drawing/2014/main" id="{BDC85BCC-165A-4F83-A3EA-364EA2712920}"/>
              </a:ext>
            </a:extLst>
          </p:cNvPr>
          <p:cNvSpPr>
            <a:spLocks noGrp="1"/>
          </p:cNvSpPr>
          <p:nvPr>
            <p:ph idx="1"/>
          </p:nvPr>
        </p:nvSpPr>
        <p:spPr>
          <a:xfrm>
            <a:off x="994954" y="3245122"/>
            <a:ext cx="10515600" cy="1483632"/>
          </a:xfrm>
        </p:spPr>
        <p:txBody>
          <a:bodyPr/>
          <a:lstStyle/>
          <a:p>
            <a:pPr marL="0" indent="0" algn="ctr">
              <a:buNone/>
            </a:pPr>
            <a:r>
              <a:rPr lang="es-MX" dirty="0"/>
              <a:t>¿Cómo afectan las importaciones provenientes de China al empleo en el sector manufacturero peruano durante el periodo 2010–2019?</a:t>
            </a:r>
          </a:p>
          <a:p>
            <a:pPr marL="0" indent="0" algn="ctr">
              <a:buNone/>
            </a:pPr>
            <a:endParaRPr lang="es-MX" dirty="0"/>
          </a:p>
        </p:txBody>
      </p:sp>
    </p:spTree>
    <p:extLst>
      <p:ext uri="{BB962C8B-B14F-4D97-AF65-F5344CB8AC3E}">
        <p14:creationId xmlns:p14="http://schemas.microsoft.com/office/powerpoint/2010/main" val="2897007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F3409-1CE3-4C55-9A55-1F1418E9287A}"/>
              </a:ext>
            </a:extLst>
          </p:cNvPr>
          <p:cNvSpPr>
            <a:spLocks noGrp="1"/>
          </p:cNvSpPr>
          <p:nvPr>
            <p:ph type="title"/>
          </p:nvPr>
        </p:nvSpPr>
        <p:spPr/>
        <p:txBody>
          <a:bodyPr/>
          <a:lstStyle/>
          <a:p>
            <a:r>
              <a:rPr lang="en-US" dirty="0" err="1"/>
              <a:t>Objetivo</a:t>
            </a:r>
            <a:endParaRPr lang="es-MX" dirty="0"/>
          </a:p>
        </p:txBody>
      </p:sp>
      <p:sp>
        <p:nvSpPr>
          <p:cNvPr id="3" name="Content Placeholder 2">
            <a:extLst>
              <a:ext uri="{FF2B5EF4-FFF2-40B4-BE49-F238E27FC236}">
                <a16:creationId xmlns:a16="http://schemas.microsoft.com/office/drawing/2014/main" id="{4A6D085D-EFCC-4BBB-AE3A-C1C927D153C0}"/>
              </a:ext>
            </a:extLst>
          </p:cNvPr>
          <p:cNvSpPr>
            <a:spLocks noGrp="1"/>
          </p:cNvSpPr>
          <p:nvPr>
            <p:ph idx="1"/>
          </p:nvPr>
        </p:nvSpPr>
        <p:spPr>
          <a:xfrm>
            <a:off x="838200" y="1825625"/>
            <a:ext cx="10515600" cy="2180318"/>
          </a:xfrm>
        </p:spPr>
        <p:txBody>
          <a:bodyPr/>
          <a:lstStyle/>
          <a:p>
            <a:pPr marL="0" indent="0" algn="ctr">
              <a:buNone/>
            </a:pPr>
            <a:r>
              <a:rPr lang="es-MX" dirty="0"/>
              <a:t>Estimar el efecto causal de la penetración de importaciones de China sobre los niveles de empleo en el sector manufacturero peruano durante el periodo 2010–2019, aislando el componente exógeno de oferta de China de los choques de demanda interna y global.</a:t>
            </a:r>
          </a:p>
        </p:txBody>
      </p:sp>
      <p:sp>
        <p:nvSpPr>
          <p:cNvPr id="4" name="Rectangle: Rounded Corners 3">
            <a:extLst>
              <a:ext uri="{FF2B5EF4-FFF2-40B4-BE49-F238E27FC236}">
                <a16:creationId xmlns:a16="http://schemas.microsoft.com/office/drawing/2014/main" id="{604067E8-4985-4FB0-9A7E-3439D6C91B16}"/>
              </a:ext>
            </a:extLst>
          </p:cNvPr>
          <p:cNvSpPr/>
          <p:nvPr/>
        </p:nvSpPr>
        <p:spPr>
          <a:xfrm>
            <a:off x="1517469" y="4902926"/>
            <a:ext cx="2984863" cy="112340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Descomponer el crecimiento de las importaciones chinas </a:t>
            </a:r>
            <a:endParaRPr lang="en-US" dirty="0">
              <a:solidFill>
                <a:schemeClr val="tx1"/>
              </a:solidFill>
            </a:endParaRPr>
          </a:p>
        </p:txBody>
      </p:sp>
      <p:sp>
        <p:nvSpPr>
          <p:cNvPr id="6" name="Rectangle: Rounded Corners 5">
            <a:extLst>
              <a:ext uri="{FF2B5EF4-FFF2-40B4-BE49-F238E27FC236}">
                <a16:creationId xmlns:a16="http://schemas.microsoft.com/office/drawing/2014/main" id="{44FD931A-DD33-422F-AF09-73618C9847E5}"/>
              </a:ext>
            </a:extLst>
          </p:cNvPr>
          <p:cNvSpPr/>
          <p:nvPr/>
        </p:nvSpPr>
        <p:spPr>
          <a:xfrm>
            <a:off x="7077891" y="4902925"/>
            <a:ext cx="2984863" cy="112340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Cuantificar el impacto del choque de oferta chino </a:t>
            </a:r>
            <a:endParaRPr lang="en-US" dirty="0">
              <a:solidFill>
                <a:schemeClr val="tx1"/>
              </a:solidFill>
            </a:endParaRPr>
          </a:p>
        </p:txBody>
      </p:sp>
    </p:spTree>
    <p:extLst>
      <p:ext uri="{BB962C8B-B14F-4D97-AF65-F5344CB8AC3E}">
        <p14:creationId xmlns:p14="http://schemas.microsoft.com/office/powerpoint/2010/main" val="206417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604C-5162-458E-9738-1D39282B3D31}"/>
              </a:ext>
            </a:extLst>
          </p:cNvPr>
          <p:cNvSpPr>
            <a:spLocks noGrp="1"/>
          </p:cNvSpPr>
          <p:nvPr>
            <p:ph type="title"/>
          </p:nvPr>
        </p:nvSpPr>
        <p:spPr/>
        <p:txBody>
          <a:bodyPr/>
          <a:lstStyle/>
          <a:p>
            <a:r>
              <a:rPr lang="en-US" dirty="0" err="1"/>
              <a:t>Contribuci</a:t>
            </a:r>
            <a:r>
              <a:rPr lang="es-MX" dirty="0" err="1"/>
              <a:t>ó</a:t>
            </a:r>
            <a:r>
              <a:rPr lang="en-US" dirty="0"/>
              <a:t>n</a:t>
            </a:r>
            <a:endParaRPr lang="es-MX" dirty="0"/>
          </a:p>
        </p:txBody>
      </p:sp>
      <p:sp>
        <p:nvSpPr>
          <p:cNvPr id="3" name="Content Placeholder 2">
            <a:extLst>
              <a:ext uri="{FF2B5EF4-FFF2-40B4-BE49-F238E27FC236}">
                <a16:creationId xmlns:a16="http://schemas.microsoft.com/office/drawing/2014/main" id="{2A65DBAF-AE2D-4321-BC87-25EABE640CB8}"/>
              </a:ext>
            </a:extLst>
          </p:cNvPr>
          <p:cNvSpPr>
            <a:spLocks noGrp="1"/>
          </p:cNvSpPr>
          <p:nvPr>
            <p:ph idx="1"/>
          </p:nvPr>
        </p:nvSpPr>
        <p:spPr>
          <a:xfrm>
            <a:off x="838200" y="1825625"/>
            <a:ext cx="10515600" cy="2162901"/>
          </a:xfrm>
        </p:spPr>
        <p:txBody>
          <a:bodyPr>
            <a:normAutofit/>
          </a:bodyPr>
          <a:lstStyle/>
          <a:p>
            <a:r>
              <a:rPr lang="es-MX" dirty="0">
                <a:latin typeface="Calibri" panose="020F0502020204030204" pitchFamily="34" charset="0"/>
                <a:ea typeface="Calibri" panose="020F0502020204030204" pitchFamily="34" charset="0"/>
                <a:cs typeface="Arial" panose="020B0604020202020204" pitchFamily="34" charset="0"/>
              </a:rPr>
              <a:t>Eleva el estándar de rigor causal para el caso peruano al integrar la estrategia geográfica de usar a Chile con el refinamiento estructural de Fischer et al. (2023)</a:t>
            </a:r>
          </a:p>
          <a:p>
            <a:r>
              <a:rPr lang="es-MX" dirty="0"/>
              <a:t>Aporta evidencia nueva sobre la "segunda fase" del choque de China en el Perú</a:t>
            </a:r>
          </a:p>
        </p:txBody>
      </p:sp>
    </p:spTree>
    <p:extLst>
      <p:ext uri="{BB962C8B-B14F-4D97-AF65-F5344CB8AC3E}">
        <p14:creationId xmlns:p14="http://schemas.microsoft.com/office/powerpoint/2010/main" val="1318334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ADD7-C6B3-40C1-9990-2B80CC6AFD72}"/>
              </a:ext>
            </a:extLst>
          </p:cNvPr>
          <p:cNvSpPr>
            <a:spLocks noGrp="1"/>
          </p:cNvSpPr>
          <p:nvPr>
            <p:ph type="title"/>
          </p:nvPr>
        </p:nvSpPr>
        <p:spPr/>
        <p:txBody>
          <a:bodyPr/>
          <a:lstStyle/>
          <a:p>
            <a:r>
              <a:rPr lang="en-US" dirty="0" err="1"/>
              <a:t>Datos</a:t>
            </a:r>
            <a:endParaRPr lang="es-MX" dirty="0"/>
          </a:p>
        </p:txBody>
      </p:sp>
      <p:sp>
        <p:nvSpPr>
          <p:cNvPr id="3" name="Content Placeholder 2">
            <a:extLst>
              <a:ext uri="{FF2B5EF4-FFF2-40B4-BE49-F238E27FC236}">
                <a16:creationId xmlns:a16="http://schemas.microsoft.com/office/drawing/2014/main" id="{C37C8C55-BE54-460B-80CC-114593C47F59}"/>
              </a:ext>
            </a:extLst>
          </p:cNvPr>
          <p:cNvSpPr>
            <a:spLocks noGrp="1"/>
          </p:cNvSpPr>
          <p:nvPr>
            <p:ph idx="1"/>
          </p:nvPr>
        </p:nvSpPr>
        <p:spPr/>
        <p:txBody>
          <a:bodyPr/>
          <a:lstStyle/>
          <a:p>
            <a:r>
              <a:rPr lang="en-US" dirty="0" err="1"/>
              <a:t>Flujo</a:t>
            </a:r>
            <a:r>
              <a:rPr lang="en-US" dirty="0"/>
              <a:t> de </a:t>
            </a:r>
            <a:r>
              <a:rPr lang="en-US" dirty="0" err="1"/>
              <a:t>comercio</a:t>
            </a:r>
            <a:r>
              <a:rPr lang="en-US" dirty="0"/>
              <a:t> bilateral (UN COMTRADE)</a:t>
            </a:r>
          </a:p>
          <a:p>
            <a:r>
              <a:rPr lang="en-US" dirty="0"/>
              <a:t>El </a:t>
            </a:r>
            <a:r>
              <a:rPr lang="en-US" dirty="0" err="1"/>
              <a:t>empleo</a:t>
            </a:r>
            <a:r>
              <a:rPr lang="en-US" dirty="0"/>
              <a:t> </a:t>
            </a:r>
            <a:r>
              <a:rPr lang="en-US" dirty="0" err="1"/>
              <a:t>manufacturero</a:t>
            </a:r>
            <a:r>
              <a:rPr lang="en-US" dirty="0"/>
              <a:t> (por sector y </a:t>
            </a:r>
            <a:r>
              <a:rPr lang="en-US" dirty="0" err="1"/>
              <a:t>regi</a:t>
            </a:r>
            <a:r>
              <a:rPr lang="es-MX" dirty="0" err="1"/>
              <a:t>ó</a:t>
            </a:r>
            <a:r>
              <a:rPr lang="en-US" dirty="0"/>
              <a:t>n)  </a:t>
            </a:r>
          </a:p>
          <a:p>
            <a:endParaRPr lang="es-MX" dirty="0"/>
          </a:p>
        </p:txBody>
      </p:sp>
      <p:sp>
        <p:nvSpPr>
          <p:cNvPr id="4" name="Rectangle 3">
            <a:extLst>
              <a:ext uri="{FF2B5EF4-FFF2-40B4-BE49-F238E27FC236}">
                <a16:creationId xmlns:a16="http://schemas.microsoft.com/office/drawing/2014/main" id="{38DD216A-21D2-4878-8C2F-CE67F2BA908F}"/>
              </a:ext>
            </a:extLst>
          </p:cNvPr>
          <p:cNvSpPr/>
          <p:nvPr/>
        </p:nvSpPr>
        <p:spPr>
          <a:xfrm>
            <a:off x="3762104" y="5992297"/>
            <a:ext cx="4406537" cy="369332"/>
          </a:xfrm>
          <a:prstGeom prst="rect">
            <a:avLst/>
          </a:prstGeom>
        </p:spPr>
        <p:txBody>
          <a:bodyPr wrap="square">
            <a:spAutoFit/>
          </a:bodyPr>
          <a:lstStyle/>
          <a:p>
            <a:r>
              <a:rPr lang="es-MX" dirty="0">
                <a:latin typeface="Calibri" panose="020F0502020204030204" pitchFamily="34" charset="0"/>
                <a:ea typeface="Calibri" panose="020F0502020204030204" pitchFamily="34" charset="0"/>
                <a:cs typeface="Arial" panose="020B0604020202020204" pitchFamily="34" charset="0"/>
              </a:rPr>
              <a:t>Unidad de Análisis : Industria manufacturera</a:t>
            </a:r>
            <a:endParaRPr lang="es-MX" dirty="0"/>
          </a:p>
        </p:txBody>
      </p:sp>
    </p:spTree>
    <p:extLst>
      <p:ext uri="{BB962C8B-B14F-4D97-AF65-F5344CB8AC3E}">
        <p14:creationId xmlns:p14="http://schemas.microsoft.com/office/powerpoint/2010/main" val="2425553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439AD-01E0-4765-AC4F-A103C5BDA56F}"/>
              </a:ext>
            </a:extLst>
          </p:cNvPr>
          <p:cNvSpPr>
            <a:spLocks noGrp="1"/>
          </p:cNvSpPr>
          <p:nvPr>
            <p:ph type="title"/>
          </p:nvPr>
        </p:nvSpPr>
        <p:spPr/>
        <p:txBody>
          <a:bodyPr/>
          <a:lstStyle/>
          <a:p>
            <a:r>
              <a:rPr lang="en-US" dirty="0" err="1"/>
              <a:t>Metodología</a:t>
            </a:r>
            <a:r>
              <a:rPr lang="en-US" dirty="0"/>
              <a:t> </a:t>
            </a:r>
            <a:endParaRPr lang="es-MX" dirty="0"/>
          </a:p>
        </p:txBody>
      </p:sp>
      <p:sp>
        <p:nvSpPr>
          <p:cNvPr id="4" name="Content Placeholder 3">
            <a:extLst>
              <a:ext uri="{FF2B5EF4-FFF2-40B4-BE49-F238E27FC236}">
                <a16:creationId xmlns:a16="http://schemas.microsoft.com/office/drawing/2014/main" id="{122808C3-A6D5-4752-901F-E2232D7CFA34}"/>
              </a:ext>
            </a:extLst>
          </p:cNvPr>
          <p:cNvSpPr>
            <a:spLocks noGrp="1"/>
          </p:cNvSpPr>
          <p:nvPr>
            <p:ph idx="1"/>
          </p:nvPr>
        </p:nvSpPr>
        <p:spPr>
          <a:xfrm>
            <a:off x="838200" y="2249986"/>
            <a:ext cx="5179423" cy="117012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marL="0" indent="0" algn="ctr">
              <a:buNone/>
            </a:pPr>
            <a:r>
              <a:rPr lang="es-MX" dirty="0">
                <a:solidFill>
                  <a:schemeClr val="tx1"/>
                </a:solidFill>
              </a:rPr>
              <a:t>Identificación del Choque de Oferta de China por cada rama manufacturera</a:t>
            </a:r>
            <a:endParaRPr lang="en-US" sz="1700" dirty="0">
              <a:solidFill>
                <a:schemeClr val="tx1"/>
              </a:solidFill>
            </a:endParaRPr>
          </a:p>
        </p:txBody>
      </p:sp>
      <p:sp>
        <p:nvSpPr>
          <p:cNvPr id="5" name="Content Placeholder 3">
            <a:extLst>
              <a:ext uri="{FF2B5EF4-FFF2-40B4-BE49-F238E27FC236}">
                <a16:creationId xmlns:a16="http://schemas.microsoft.com/office/drawing/2014/main" id="{2067DC2C-3C82-428D-A07E-4638DFFB4146}"/>
              </a:ext>
            </a:extLst>
          </p:cNvPr>
          <p:cNvSpPr txBox="1">
            <a:spLocks/>
          </p:cNvSpPr>
          <p:nvPr/>
        </p:nvSpPr>
        <p:spPr>
          <a:xfrm>
            <a:off x="6017623" y="4433842"/>
            <a:ext cx="5179423" cy="117012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s-MX" dirty="0">
                <a:solidFill>
                  <a:schemeClr val="tx1"/>
                </a:solidFill>
              </a:rPr>
              <a:t>Construcción del instrumento de Shift-Share</a:t>
            </a:r>
            <a:endParaRPr lang="en-US" sz="1700" dirty="0">
              <a:solidFill>
                <a:schemeClr val="tx1"/>
              </a:solidFill>
            </a:endParaRPr>
          </a:p>
        </p:txBody>
      </p:sp>
    </p:spTree>
    <p:extLst>
      <p:ext uri="{BB962C8B-B14F-4D97-AF65-F5344CB8AC3E}">
        <p14:creationId xmlns:p14="http://schemas.microsoft.com/office/powerpoint/2010/main" val="984432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439AD-01E0-4765-AC4F-A103C5BDA56F}"/>
              </a:ext>
            </a:extLst>
          </p:cNvPr>
          <p:cNvSpPr>
            <a:spLocks noGrp="1"/>
          </p:cNvSpPr>
          <p:nvPr>
            <p:ph type="title"/>
          </p:nvPr>
        </p:nvSpPr>
        <p:spPr/>
        <p:txBody>
          <a:bodyPr/>
          <a:lstStyle/>
          <a:p>
            <a:r>
              <a:rPr lang="en-US" dirty="0" err="1"/>
              <a:t>Metodología</a:t>
            </a:r>
            <a:r>
              <a:rPr lang="en-US" dirty="0"/>
              <a:t> </a:t>
            </a:r>
            <a:endParaRPr lang="es-MX" dirty="0"/>
          </a:p>
        </p:txBody>
      </p:sp>
      <p:sp>
        <p:nvSpPr>
          <p:cNvPr id="4" name="Content Placeholder 3">
            <a:extLst>
              <a:ext uri="{FF2B5EF4-FFF2-40B4-BE49-F238E27FC236}">
                <a16:creationId xmlns:a16="http://schemas.microsoft.com/office/drawing/2014/main" id="{395E248F-E85B-44F1-A575-F165604C2444}"/>
              </a:ext>
            </a:extLst>
          </p:cNvPr>
          <p:cNvSpPr txBox="1">
            <a:spLocks/>
          </p:cNvSpPr>
          <p:nvPr/>
        </p:nvSpPr>
        <p:spPr>
          <a:xfrm>
            <a:off x="3224348" y="2075996"/>
            <a:ext cx="5179423" cy="117012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Arial" panose="020B0604020202020204" pitchFamily="34" charset="0"/>
              <a:buNone/>
            </a:pPr>
            <a:r>
              <a:rPr lang="es-MX" dirty="0">
                <a:solidFill>
                  <a:schemeClr val="tx1"/>
                </a:solidFill>
              </a:rPr>
              <a:t>Estimación econométrica </a:t>
            </a:r>
            <a:endParaRPr lang="en-US" sz="1700" dirty="0">
              <a:solidFill>
                <a:schemeClr val="tx1"/>
              </a:solidFill>
            </a:endParaRPr>
          </a:p>
        </p:txBody>
      </p:sp>
    </p:spTree>
    <p:extLst>
      <p:ext uri="{BB962C8B-B14F-4D97-AF65-F5344CB8AC3E}">
        <p14:creationId xmlns:p14="http://schemas.microsoft.com/office/powerpoint/2010/main" val="3880715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49457-25BD-4219-8390-E04CCBF3193F}"/>
              </a:ext>
            </a:extLst>
          </p:cNvPr>
          <p:cNvSpPr>
            <a:spLocks noGrp="1"/>
          </p:cNvSpPr>
          <p:nvPr>
            <p:ph type="title"/>
          </p:nvPr>
        </p:nvSpPr>
        <p:spPr/>
        <p:txBody>
          <a:bodyPr/>
          <a:lstStyle/>
          <a:p>
            <a:r>
              <a:rPr lang="en-US" dirty="0" err="1"/>
              <a:t>Bibliografía</a:t>
            </a:r>
            <a:endParaRPr lang="es-MX" dirty="0"/>
          </a:p>
        </p:txBody>
      </p:sp>
      <p:sp>
        <p:nvSpPr>
          <p:cNvPr id="3" name="Content Placeholder 2">
            <a:extLst>
              <a:ext uri="{FF2B5EF4-FFF2-40B4-BE49-F238E27FC236}">
                <a16:creationId xmlns:a16="http://schemas.microsoft.com/office/drawing/2014/main" id="{8E40C6EC-B334-428E-9C06-D2425AC4CA10}"/>
              </a:ext>
            </a:extLst>
          </p:cNvPr>
          <p:cNvSpPr>
            <a:spLocks noGrp="1"/>
          </p:cNvSpPr>
          <p:nvPr>
            <p:ph idx="1"/>
          </p:nvPr>
        </p:nvSpPr>
        <p:spPr/>
        <p:txBody>
          <a:bodyPr>
            <a:normAutofit fontScale="85000" lnSpcReduction="10000"/>
          </a:bodyPr>
          <a:lstStyle/>
          <a:p>
            <a:r>
              <a:rPr lang="en-US" sz="2200" dirty="0">
                <a:latin typeface="Times New Roman" panose="02020603050405020304" pitchFamily="18" charset="0"/>
                <a:cs typeface="Times New Roman" panose="02020603050405020304" pitchFamily="18" charset="0"/>
              </a:rPr>
              <a:t>Autor, D., Dorn, D., &amp; Hanson, G. (2021). On the persistence of the China shock. </a:t>
            </a:r>
            <a:r>
              <a:rPr lang="en-US" sz="2200" i="1" dirty="0">
                <a:latin typeface="Times New Roman" panose="02020603050405020304" pitchFamily="18" charset="0"/>
                <a:cs typeface="Times New Roman" panose="02020603050405020304" pitchFamily="18" charset="0"/>
              </a:rPr>
              <a:t>Brookings Papers on Economic Activity, 52</a:t>
            </a:r>
            <a:r>
              <a:rPr lang="en-US" sz="2200" dirty="0">
                <a:latin typeface="Times New Roman" panose="02020603050405020304" pitchFamily="18" charset="0"/>
                <a:cs typeface="Times New Roman" panose="02020603050405020304" pitchFamily="18" charset="0"/>
              </a:rPr>
              <a:t>(2), 381–476. </a:t>
            </a:r>
            <a:r>
              <a:rPr lang="en-US" sz="2200" u="sng" dirty="0">
                <a:latin typeface="Times New Roman" panose="02020603050405020304" pitchFamily="18" charset="0"/>
                <a:cs typeface="Times New Roman" panose="02020603050405020304" pitchFamily="18" charset="0"/>
                <a:hlinkClick r:id="rId2"/>
              </a:rPr>
              <a:t>https://www.jstor.org/stable/27133182</a:t>
            </a:r>
            <a:r>
              <a:rPr lang="en-US" sz="2200" dirty="0">
                <a:latin typeface="Times New Roman" panose="02020603050405020304" pitchFamily="18" charset="0"/>
                <a:cs typeface="Times New Roman" panose="02020603050405020304" pitchFamily="18" charset="0"/>
              </a:rPr>
              <a:t> </a:t>
            </a:r>
            <a:endParaRPr lang="es-MX"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Fischer, A. M., </a:t>
            </a:r>
            <a:r>
              <a:rPr lang="en-US" sz="2200" dirty="0" err="1">
                <a:latin typeface="Times New Roman" panose="02020603050405020304" pitchFamily="18" charset="0"/>
                <a:cs typeface="Times New Roman" panose="02020603050405020304" pitchFamily="18" charset="0"/>
              </a:rPr>
              <a:t>Herkenhoff</a:t>
            </a:r>
            <a:r>
              <a:rPr lang="en-US" sz="2200" dirty="0">
                <a:latin typeface="Times New Roman" panose="02020603050405020304" pitchFamily="18" charset="0"/>
                <a:cs typeface="Times New Roman" panose="02020603050405020304" pitchFamily="18" charset="0"/>
              </a:rPr>
              <a:t>, P., &amp; </a:t>
            </a:r>
            <a:r>
              <a:rPr lang="en-US" sz="2200" dirty="0" err="1">
                <a:latin typeface="Times New Roman" panose="02020603050405020304" pitchFamily="18" charset="0"/>
                <a:cs typeface="Times New Roman" panose="02020603050405020304" pitchFamily="18" charset="0"/>
              </a:rPr>
              <a:t>Sauré</a:t>
            </a:r>
            <a:r>
              <a:rPr lang="en-US" sz="2200" dirty="0">
                <a:latin typeface="Times New Roman" panose="02020603050405020304" pitchFamily="18" charset="0"/>
                <a:cs typeface="Times New Roman" panose="02020603050405020304" pitchFamily="18" charset="0"/>
              </a:rPr>
              <a:t>, P. (2023). Identifying Chinese supply shocks: Effects of trade on labor markets. </a:t>
            </a:r>
            <a:r>
              <a:rPr lang="en-US" sz="2200" i="1" dirty="0">
                <a:latin typeface="Times New Roman" panose="02020603050405020304" pitchFamily="18" charset="0"/>
                <a:cs typeface="Times New Roman" panose="02020603050405020304" pitchFamily="18" charset="0"/>
              </a:rPr>
              <a:t>Review of International Economics, 31</a:t>
            </a:r>
            <a:r>
              <a:rPr lang="en-US" sz="2200" dirty="0">
                <a:latin typeface="Times New Roman" panose="02020603050405020304" pitchFamily="18" charset="0"/>
                <a:cs typeface="Times New Roman" panose="02020603050405020304" pitchFamily="18" charset="0"/>
              </a:rPr>
              <a:t>(4), 1476–1507. </a:t>
            </a:r>
            <a:r>
              <a:rPr lang="en-US" sz="2200" u="sng" dirty="0">
                <a:latin typeface="Times New Roman" panose="02020603050405020304" pitchFamily="18" charset="0"/>
                <a:cs typeface="Times New Roman" panose="02020603050405020304" pitchFamily="18" charset="0"/>
                <a:hlinkClick r:id="rId3"/>
              </a:rPr>
              <a:t>https://doi.org/10.1111/roie.12673</a:t>
            </a:r>
            <a:endParaRPr lang="en-US" sz="2200" u="sng" dirty="0">
              <a:latin typeface="Times New Roman" panose="02020603050405020304" pitchFamily="18" charset="0"/>
              <a:cs typeface="Times New Roman" panose="02020603050405020304" pitchFamily="18" charset="0"/>
            </a:endParaRPr>
          </a:p>
          <a:p>
            <a:r>
              <a:rPr lang="en-US" sz="2200" dirty="0" err="1">
                <a:latin typeface="Times New Roman" panose="02020603050405020304" pitchFamily="18" charset="0"/>
                <a:cs typeface="Times New Roman" panose="02020603050405020304" pitchFamily="18" charset="0"/>
              </a:rPr>
              <a:t>Fairlie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Reinoso</a:t>
            </a:r>
            <a:r>
              <a:rPr lang="en-US" sz="2200" dirty="0">
                <a:latin typeface="Times New Roman" panose="02020603050405020304" pitchFamily="18" charset="0"/>
                <a:cs typeface="Times New Roman" panose="02020603050405020304" pitchFamily="18" charset="0"/>
              </a:rPr>
              <a:t>, A. (2020). The influence of the China FTA in Peruvian trade flows. </a:t>
            </a:r>
            <a:r>
              <a:rPr lang="en-US" sz="2200" i="1" dirty="0">
                <a:latin typeface="Times New Roman" panose="02020603050405020304" pitchFamily="18" charset="0"/>
                <a:cs typeface="Times New Roman" panose="02020603050405020304" pitchFamily="18" charset="0"/>
              </a:rPr>
              <a:t>Latin American Journal of Trade Policy</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(5), 23–43. </a:t>
            </a:r>
            <a:r>
              <a:rPr lang="en-US" sz="2200" u="sng" dirty="0">
                <a:latin typeface="Times New Roman" panose="02020603050405020304" pitchFamily="18" charset="0"/>
                <a:cs typeface="Times New Roman" panose="02020603050405020304" pitchFamily="18" charset="0"/>
                <a:hlinkClick r:id="rId4"/>
              </a:rPr>
              <a:t>https://doi.org/10.5354/0719-9368.2019.56351</a:t>
            </a:r>
            <a:endParaRPr lang="en-US" sz="2200" u="sng"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Caliendo, L., </a:t>
            </a:r>
            <a:r>
              <a:rPr lang="en-US" sz="2200" dirty="0" err="1">
                <a:latin typeface="Times New Roman" panose="02020603050405020304" pitchFamily="18" charset="0"/>
                <a:cs typeface="Times New Roman" panose="02020603050405020304" pitchFamily="18" charset="0"/>
              </a:rPr>
              <a:t>Dvorkin</a:t>
            </a:r>
            <a:r>
              <a:rPr lang="en-US" sz="2200" dirty="0">
                <a:latin typeface="Times New Roman" panose="02020603050405020304" pitchFamily="18" charset="0"/>
                <a:cs typeface="Times New Roman" panose="02020603050405020304" pitchFamily="18" charset="0"/>
              </a:rPr>
              <a:t>, M., &amp; </a:t>
            </a:r>
            <a:r>
              <a:rPr lang="en-US" sz="2200" dirty="0" err="1">
                <a:latin typeface="Times New Roman" panose="02020603050405020304" pitchFamily="18" charset="0"/>
                <a:cs typeface="Times New Roman" panose="02020603050405020304" pitchFamily="18" charset="0"/>
              </a:rPr>
              <a:t>Parro</a:t>
            </a:r>
            <a:r>
              <a:rPr lang="en-US" sz="2200" dirty="0">
                <a:latin typeface="Times New Roman" panose="02020603050405020304" pitchFamily="18" charset="0"/>
                <a:cs typeface="Times New Roman" panose="02020603050405020304" pitchFamily="18" charset="0"/>
              </a:rPr>
              <a:t>, F. (2019). </a:t>
            </a:r>
            <a:r>
              <a:rPr lang="en-US" sz="2200" i="1" dirty="0">
                <a:latin typeface="Times New Roman" panose="02020603050405020304" pitchFamily="18" charset="0"/>
                <a:cs typeface="Times New Roman" panose="02020603050405020304" pitchFamily="18" charset="0"/>
              </a:rPr>
              <a:t>Trade and labor market dynamics: General equilibrium analysis of the China trade shock</a:t>
            </a:r>
            <a:r>
              <a:rPr lang="en-US" sz="2200" dirty="0">
                <a:latin typeface="Times New Roman" panose="02020603050405020304" pitchFamily="18" charset="0"/>
                <a:cs typeface="Times New Roman" panose="02020603050405020304" pitchFamily="18" charset="0"/>
              </a:rPr>
              <a:t>. </a:t>
            </a:r>
            <a:r>
              <a:rPr lang="es-MX" sz="2200" i="1" dirty="0" err="1">
                <a:latin typeface="Times New Roman" panose="02020603050405020304" pitchFamily="18" charset="0"/>
                <a:cs typeface="Times New Roman" panose="02020603050405020304" pitchFamily="18" charset="0"/>
              </a:rPr>
              <a:t>Econometrica</a:t>
            </a:r>
            <a:r>
              <a:rPr lang="es-MX" sz="2200" i="1" dirty="0">
                <a:latin typeface="Times New Roman" panose="02020603050405020304" pitchFamily="18" charset="0"/>
                <a:cs typeface="Times New Roman" panose="02020603050405020304" pitchFamily="18" charset="0"/>
              </a:rPr>
              <a:t>, 87</a:t>
            </a:r>
            <a:r>
              <a:rPr lang="es-MX" sz="2200" dirty="0">
                <a:latin typeface="Times New Roman" panose="02020603050405020304" pitchFamily="18" charset="0"/>
                <a:cs typeface="Times New Roman" panose="02020603050405020304" pitchFamily="18" charset="0"/>
              </a:rPr>
              <a:t>(3), 741–835. </a:t>
            </a:r>
            <a:r>
              <a:rPr lang="es-MX" sz="2200" u="sng" dirty="0">
                <a:latin typeface="Times New Roman" panose="02020603050405020304" pitchFamily="18" charset="0"/>
                <a:cs typeface="Times New Roman" panose="02020603050405020304" pitchFamily="18" charset="0"/>
                <a:hlinkClick r:id="rId5"/>
              </a:rPr>
              <a:t>http://www.jstor.org/stable/45172332</a:t>
            </a:r>
            <a:endParaRPr lang="es-MX" sz="2200" dirty="0">
              <a:latin typeface="Times New Roman" panose="02020603050405020304" pitchFamily="18" charset="0"/>
              <a:cs typeface="Times New Roman" panose="02020603050405020304" pitchFamily="18" charset="0"/>
            </a:endParaRPr>
          </a:p>
          <a:p>
            <a:r>
              <a:rPr lang="es-MX" sz="2200" dirty="0" err="1">
                <a:latin typeface="Times New Roman" panose="02020603050405020304" pitchFamily="18" charset="0"/>
                <a:cs typeface="Times New Roman" panose="02020603050405020304" pitchFamily="18" charset="0"/>
              </a:rPr>
              <a:t>Caliendo</a:t>
            </a:r>
            <a:r>
              <a:rPr lang="es-MX" sz="2200" dirty="0">
                <a:latin typeface="Times New Roman" panose="02020603050405020304" pitchFamily="18" charset="0"/>
                <a:cs typeface="Times New Roman" panose="02020603050405020304" pitchFamily="18" charset="0"/>
              </a:rPr>
              <a:t>, L., &amp; </a:t>
            </a:r>
            <a:r>
              <a:rPr lang="es-MX" sz="2200" dirty="0" err="1">
                <a:latin typeface="Times New Roman" panose="02020603050405020304" pitchFamily="18" charset="0"/>
                <a:cs typeface="Times New Roman" panose="02020603050405020304" pitchFamily="18" charset="0"/>
              </a:rPr>
              <a:t>Parro</a:t>
            </a:r>
            <a:r>
              <a:rPr lang="es-MX" sz="2200" dirty="0">
                <a:latin typeface="Times New Roman" panose="02020603050405020304" pitchFamily="18" charset="0"/>
                <a:cs typeface="Times New Roman" panose="02020603050405020304" pitchFamily="18" charset="0"/>
              </a:rPr>
              <a:t>, F. (2023). </a:t>
            </a:r>
            <a:r>
              <a:rPr lang="en-US" sz="2200" dirty="0">
                <a:latin typeface="Times New Roman" panose="02020603050405020304" pitchFamily="18" charset="0"/>
                <a:cs typeface="Times New Roman" panose="02020603050405020304" pitchFamily="18" charset="0"/>
              </a:rPr>
              <a:t>Lessons from US–China trade relations. </a:t>
            </a:r>
            <a:r>
              <a:rPr lang="en-US" sz="2200" i="1" dirty="0">
                <a:latin typeface="Times New Roman" panose="02020603050405020304" pitchFamily="18" charset="0"/>
                <a:cs typeface="Times New Roman" panose="02020603050405020304" pitchFamily="18" charset="0"/>
              </a:rPr>
              <a:t>Annual Review of Economics, 15</a:t>
            </a:r>
            <a:r>
              <a:rPr lang="en-US" sz="2200" dirty="0">
                <a:latin typeface="Times New Roman" panose="02020603050405020304" pitchFamily="18" charset="0"/>
                <a:cs typeface="Times New Roman" panose="02020603050405020304" pitchFamily="18" charset="0"/>
              </a:rPr>
              <a:t>, 513–547. </a:t>
            </a:r>
            <a:r>
              <a:rPr lang="en-US" sz="2200" u="sng" dirty="0">
                <a:latin typeface="Times New Roman" panose="02020603050405020304" pitchFamily="18" charset="0"/>
                <a:cs typeface="Times New Roman" panose="02020603050405020304" pitchFamily="18" charset="0"/>
                <a:hlinkClick r:id="rId6"/>
              </a:rPr>
              <a:t>https://doi.org/10.1146/annurev-economics-082222-082019</a:t>
            </a:r>
            <a:r>
              <a:rPr lang="es-MX"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Chan, J. (2019). </a:t>
            </a:r>
            <a:r>
              <a:rPr lang="es-MX" sz="2200" dirty="0">
                <a:latin typeface="Times New Roman" panose="02020603050405020304" pitchFamily="18" charset="0"/>
                <a:cs typeface="Times New Roman" panose="02020603050405020304" pitchFamily="18" charset="0"/>
              </a:rPr>
              <a:t>Los nueve años del TLC Perú – China. Su negociación y sus resultados. </a:t>
            </a:r>
            <a:r>
              <a:rPr lang="es-MX" sz="2200" i="1" dirty="0">
                <a:latin typeface="Times New Roman" panose="02020603050405020304" pitchFamily="18" charset="0"/>
                <a:cs typeface="Times New Roman" panose="02020603050405020304" pitchFamily="18" charset="0"/>
              </a:rPr>
              <a:t>Agenda Internacional</a:t>
            </a:r>
            <a:r>
              <a:rPr lang="es-MX" sz="2200" dirty="0">
                <a:latin typeface="Times New Roman" panose="02020603050405020304" pitchFamily="18" charset="0"/>
                <a:cs typeface="Times New Roman" panose="02020603050405020304" pitchFamily="18" charset="0"/>
              </a:rPr>
              <a:t>, </a:t>
            </a:r>
            <a:r>
              <a:rPr lang="es-MX" sz="2200" i="1" dirty="0">
                <a:latin typeface="Times New Roman" panose="02020603050405020304" pitchFamily="18" charset="0"/>
                <a:cs typeface="Times New Roman" panose="02020603050405020304" pitchFamily="18" charset="0"/>
              </a:rPr>
              <a:t>26</a:t>
            </a:r>
            <a:r>
              <a:rPr lang="es-MX" sz="2200" dirty="0">
                <a:latin typeface="Times New Roman" panose="02020603050405020304" pitchFamily="18" charset="0"/>
                <a:cs typeface="Times New Roman" panose="02020603050405020304" pitchFamily="18" charset="0"/>
              </a:rPr>
              <a:t>(37), 89–117. </a:t>
            </a:r>
            <a:r>
              <a:rPr lang="es-MX" sz="2200" u="sng" dirty="0">
                <a:latin typeface="Times New Roman" panose="02020603050405020304" pitchFamily="18" charset="0"/>
                <a:cs typeface="Times New Roman" panose="02020603050405020304" pitchFamily="18" charset="0"/>
                <a:hlinkClick r:id="rId7"/>
              </a:rPr>
              <a:t>https://doi.org/10.18800/agenda.201901.003</a:t>
            </a:r>
            <a:r>
              <a:rPr lang="es-MX" sz="2200" dirty="0">
                <a:latin typeface="Times New Roman" panose="02020603050405020304" pitchFamily="18" charset="0"/>
                <a:cs typeface="Times New Roman" panose="02020603050405020304" pitchFamily="18" charset="0"/>
              </a:rPr>
              <a:t> </a:t>
            </a:r>
          </a:p>
          <a:p>
            <a:r>
              <a:rPr lang="es-MX" sz="2200" dirty="0" err="1">
                <a:latin typeface="Times New Roman" panose="02020603050405020304" pitchFamily="18" charset="0"/>
                <a:cs typeface="Times New Roman" panose="02020603050405020304" pitchFamily="18" charset="0"/>
              </a:rPr>
              <a:t>Citino</a:t>
            </a:r>
            <a:r>
              <a:rPr lang="es-MX" sz="2200" dirty="0">
                <a:latin typeface="Times New Roman" panose="02020603050405020304" pitchFamily="18" charset="0"/>
                <a:cs typeface="Times New Roman" panose="02020603050405020304" pitchFamily="18" charset="0"/>
              </a:rPr>
              <a:t>, L., &amp; </a:t>
            </a:r>
            <a:r>
              <a:rPr lang="es-MX" sz="2200" dirty="0" err="1">
                <a:latin typeface="Times New Roman" panose="02020603050405020304" pitchFamily="18" charset="0"/>
                <a:cs typeface="Times New Roman" panose="02020603050405020304" pitchFamily="18" charset="0"/>
              </a:rPr>
              <a:t>Linarello</a:t>
            </a:r>
            <a:r>
              <a:rPr lang="es-MX" sz="2200" dirty="0">
                <a:latin typeface="Times New Roman" panose="02020603050405020304" pitchFamily="18" charset="0"/>
                <a:cs typeface="Times New Roman" panose="02020603050405020304" pitchFamily="18" charset="0"/>
              </a:rPr>
              <a:t>, A. (2022). </a:t>
            </a:r>
            <a:r>
              <a:rPr lang="en-US" sz="2200" dirty="0">
                <a:latin typeface="Times New Roman" panose="02020603050405020304" pitchFamily="18" charset="0"/>
                <a:cs typeface="Times New Roman" panose="02020603050405020304" pitchFamily="18" charset="0"/>
              </a:rPr>
              <a:t>The impact of Chinese import competition on Italian manufacturing. Review of International Economics, 30, 702-731. </a:t>
            </a:r>
            <a:r>
              <a:rPr lang="en-US" sz="2200" u="sng" dirty="0">
                <a:latin typeface="Times New Roman" panose="02020603050405020304" pitchFamily="18" charset="0"/>
                <a:cs typeface="Times New Roman" panose="02020603050405020304" pitchFamily="18" charset="0"/>
                <a:hlinkClick r:id="rId8"/>
              </a:rPr>
              <a:t>https://doi.org/10.1111/roie.12587</a:t>
            </a:r>
            <a:endParaRPr lang="es-MX" sz="2200" dirty="0">
              <a:latin typeface="Times New Roman" panose="02020603050405020304" pitchFamily="18" charset="0"/>
              <a:cs typeface="Times New Roman" panose="02020603050405020304" pitchFamily="18" charset="0"/>
            </a:endParaRPr>
          </a:p>
          <a:p>
            <a:endParaRPr lang="es-MX" sz="2200" dirty="0">
              <a:latin typeface="Times New Roman" panose="02020603050405020304" pitchFamily="18" charset="0"/>
              <a:cs typeface="Times New Roman" panose="02020603050405020304" pitchFamily="18" charset="0"/>
            </a:endParaRPr>
          </a:p>
          <a:p>
            <a:endParaRPr lang="es-MX" sz="2100" dirty="0">
              <a:latin typeface="Times New Roman" panose="02020603050405020304" pitchFamily="18" charset="0"/>
              <a:cs typeface="Times New Roman" panose="02020603050405020304" pitchFamily="18" charset="0"/>
            </a:endParaRPr>
          </a:p>
          <a:p>
            <a:endParaRPr lang="es-MX" dirty="0"/>
          </a:p>
          <a:p>
            <a:endParaRPr lang="es-MX" dirty="0"/>
          </a:p>
          <a:p>
            <a:endParaRPr lang="es-MX" dirty="0"/>
          </a:p>
        </p:txBody>
      </p:sp>
    </p:spTree>
    <p:extLst>
      <p:ext uri="{BB962C8B-B14F-4D97-AF65-F5344CB8AC3E}">
        <p14:creationId xmlns:p14="http://schemas.microsoft.com/office/powerpoint/2010/main" val="203575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2FCC-D2EF-4644-98FF-2AAA64105549}"/>
              </a:ext>
            </a:extLst>
          </p:cNvPr>
          <p:cNvSpPr>
            <a:spLocks noGrp="1"/>
          </p:cNvSpPr>
          <p:nvPr>
            <p:ph type="title"/>
          </p:nvPr>
        </p:nvSpPr>
        <p:spPr/>
        <p:txBody>
          <a:bodyPr/>
          <a:lstStyle/>
          <a:p>
            <a:r>
              <a:rPr lang="en-US" dirty="0" err="1"/>
              <a:t>Bibliografía</a:t>
            </a:r>
            <a:endParaRPr lang="es-MX" dirty="0"/>
          </a:p>
        </p:txBody>
      </p:sp>
      <p:sp>
        <p:nvSpPr>
          <p:cNvPr id="3" name="Content Placeholder 2">
            <a:extLst>
              <a:ext uri="{FF2B5EF4-FFF2-40B4-BE49-F238E27FC236}">
                <a16:creationId xmlns:a16="http://schemas.microsoft.com/office/drawing/2014/main" id="{B73BD58B-AB9A-4B1F-99A0-0FA40D43E78D}"/>
              </a:ext>
            </a:extLst>
          </p:cNvPr>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Dai, M., Du, Q., Liu, Y., &amp; Xu, J. (2023). The China trade shock and the European Union’s employment. </a:t>
            </a:r>
            <a:r>
              <a:rPr lang="en-US" i="1" dirty="0">
                <a:latin typeface="Times New Roman" panose="02020603050405020304" pitchFamily="18" charset="0"/>
                <a:cs typeface="Times New Roman" panose="02020603050405020304" pitchFamily="18" charset="0"/>
              </a:rPr>
              <a:t>The Journal of International Trade &amp; Economic Development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32</a:t>
            </a:r>
            <a:r>
              <a:rPr lang="en-US" dirty="0">
                <a:latin typeface="Times New Roman" panose="02020603050405020304" pitchFamily="18" charset="0"/>
                <a:cs typeface="Times New Roman" panose="02020603050405020304" pitchFamily="18" charset="0"/>
              </a:rPr>
              <a:t>(8), 1312–1340. </a:t>
            </a:r>
            <a:r>
              <a:rPr lang="en-US" u="sng" dirty="0">
                <a:latin typeface="Times New Roman" panose="02020603050405020304" pitchFamily="18" charset="0"/>
                <a:cs typeface="Times New Roman" panose="02020603050405020304" pitchFamily="18" charset="0"/>
                <a:hlinkClick r:id="rId2"/>
              </a:rPr>
              <a:t>https://doi.org/10.1080/09638199.2023.2260010</a:t>
            </a:r>
            <a:endParaRPr lang="en-US" u="sng"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Kiyota K, Maruyama S, Taniguchi M. The China syndrome: A cross-country evidence. World Econ. 2021;44:2758–2792. </a:t>
            </a:r>
            <a:r>
              <a:rPr lang="en-US" u="sng" dirty="0">
                <a:latin typeface="Times New Roman" panose="02020603050405020304" pitchFamily="18" charset="0"/>
                <a:cs typeface="Times New Roman" panose="02020603050405020304" pitchFamily="18" charset="0"/>
                <a:hlinkClick r:id="rId3"/>
              </a:rPr>
              <a:t>https://doi.pucp.elogim.com/10.1111/twec.13098</a:t>
            </a:r>
            <a:endParaRPr lang="es-MX" dirty="0">
              <a:latin typeface="Times New Roman" panose="02020603050405020304" pitchFamily="18" charset="0"/>
              <a:cs typeface="Times New Roman" panose="02020603050405020304" pitchFamily="18" charset="0"/>
            </a:endParaRPr>
          </a:p>
          <a:p>
            <a:r>
              <a:rPr lang="es-MX" dirty="0">
                <a:latin typeface="Times New Roman" panose="02020603050405020304" pitchFamily="18" charset="0"/>
                <a:cs typeface="Times New Roman" panose="02020603050405020304" pitchFamily="18" charset="0"/>
              </a:rPr>
              <a:t>Mercado, E., </a:t>
            </a:r>
            <a:r>
              <a:rPr lang="es-MX" dirty="0" err="1">
                <a:latin typeface="Times New Roman" panose="02020603050405020304" pitchFamily="18" charset="0"/>
                <a:cs typeface="Times New Roman" panose="02020603050405020304" pitchFamily="18" charset="0"/>
              </a:rPr>
              <a:t>Pierola</a:t>
            </a:r>
            <a:r>
              <a:rPr lang="es-MX" dirty="0">
                <a:latin typeface="Times New Roman" panose="02020603050405020304" pitchFamily="18" charset="0"/>
                <a:cs typeface="Times New Roman" panose="02020603050405020304" pitchFamily="18" charset="0"/>
              </a:rPr>
              <a:t>, M. D., &amp; Sánchez-Navarro, D. (2019). </a:t>
            </a:r>
            <a:r>
              <a:rPr lang="en-US" i="1" dirty="0">
                <a:latin typeface="Times New Roman" panose="02020603050405020304" pitchFamily="18" charset="0"/>
                <a:cs typeface="Times New Roman" panose="02020603050405020304" pitchFamily="18" charset="0"/>
              </a:rPr>
              <a:t>The impact of import competition from China on firm performance in the Peruvian manufacturing sector</a:t>
            </a:r>
            <a:r>
              <a:rPr lang="en-US" dirty="0">
                <a:latin typeface="Times New Roman" panose="02020603050405020304" pitchFamily="18" charset="0"/>
                <a:cs typeface="Times New Roman" panose="02020603050405020304" pitchFamily="18" charset="0"/>
              </a:rPr>
              <a:t>. </a:t>
            </a:r>
            <a:r>
              <a:rPr lang="es-MX" dirty="0">
                <a:latin typeface="Times New Roman" panose="02020603050405020304" pitchFamily="18" charset="0"/>
                <a:cs typeface="Times New Roman" panose="02020603050405020304" pitchFamily="18" charset="0"/>
              </a:rPr>
              <a:t>Inter-American </a:t>
            </a:r>
            <a:r>
              <a:rPr lang="es-MX" dirty="0" err="1">
                <a:latin typeface="Times New Roman" panose="02020603050405020304" pitchFamily="18" charset="0"/>
                <a:cs typeface="Times New Roman" panose="02020603050405020304" pitchFamily="18" charset="0"/>
              </a:rPr>
              <a:t>Development</a:t>
            </a:r>
            <a:r>
              <a:rPr lang="es-MX" dirty="0">
                <a:latin typeface="Times New Roman" panose="02020603050405020304" pitchFamily="18" charset="0"/>
                <a:cs typeface="Times New Roman" panose="02020603050405020304" pitchFamily="18" charset="0"/>
              </a:rPr>
              <a:t> Bank. </a:t>
            </a:r>
            <a:r>
              <a:rPr lang="es-MX" u="sng" dirty="0">
                <a:latin typeface="Times New Roman" panose="02020603050405020304" pitchFamily="18" charset="0"/>
                <a:cs typeface="Times New Roman" panose="02020603050405020304" pitchFamily="18" charset="0"/>
                <a:hlinkClick r:id="rId4"/>
              </a:rPr>
              <a:t>https://doi.org/10.18235/0002079</a:t>
            </a:r>
            <a:r>
              <a:rPr lang="es-MX" dirty="0">
                <a:latin typeface="Times New Roman" panose="02020603050405020304" pitchFamily="18" charset="0"/>
                <a:cs typeface="Times New Roman" panose="02020603050405020304" pitchFamily="18" charset="0"/>
              </a:rPr>
              <a:t> </a:t>
            </a:r>
          </a:p>
          <a:p>
            <a:r>
              <a:rPr lang="es-MX" dirty="0">
                <a:latin typeface="Times New Roman" panose="02020603050405020304" pitchFamily="18" charset="0"/>
                <a:cs typeface="Times New Roman" panose="02020603050405020304" pitchFamily="18" charset="0"/>
              </a:rPr>
              <a:t>Morales, F., </a:t>
            </a:r>
            <a:r>
              <a:rPr lang="es-MX" dirty="0" err="1">
                <a:latin typeface="Times New Roman" panose="02020603050405020304" pitchFamily="18" charset="0"/>
                <a:cs typeface="Times New Roman" panose="02020603050405020304" pitchFamily="18" charset="0"/>
              </a:rPr>
              <a:t>Pierola</a:t>
            </a:r>
            <a:r>
              <a:rPr lang="es-MX" dirty="0">
                <a:latin typeface="Times New Roman" panose="02020603050405020304" pitchFamily="18" charset="0"/>
                <a:cs typeface="Times New Roman" panose="02020603050405020304" pitchFamily="18" charset="0"/>
              </a:rPr>
              <a:t>, M. D., &amp; </a:t>
            </a:r>
            <a:r>
              <a:rPr lang="es-MX" dirty="0" err="1">
                <a:latin typeface="Times New Roman" panose="02020603050405020304" pitchFamily="18" charset="0"/>
                <a:cs typeface="Times New Roman" panose="02020603050405020304" pitchFamily="18" charset="0"/>
              </a:rPr>
              <a:t>Sanchez</a:t>
            </a:r>
            <a:r>
              <a:rPr lang="es-MX" dirty="0">
                <a:latin typeface="Times New Roman" panose="02020603050405020304" pitchFamily="18" charset="0"/>
                <a:cs typeface="Times New Roman" panose="02020603050405020304" pitchFamily="18" charset="0"/>
              </a:rPr>
              <a:t>-Navarro, D. (2021). </a:t>
            </a:r>
            <a:r>
              <a:rPr lang="en-US" dirty="0">
                <a:latin typeface="Times New Roman" panose="02020603050405020304" pitchFamily="18" charset="0"/>
                <a:cs typeface="Times New Roman" panose="02020603050405020304" pitchFamily="18" charset="0"/>
              </a:rPr>
              <a:t>Import competition in the manufacturing sector in Peru: Its impact on informality and wages. </a:t>
            </a:r>
            <a:r>
              <a:rPr lang="es-MX" i="1" dirty="0">
                <a:latin typeface="Times New Roman" panose="02020603050405020304" pitchFamily="18" charset="0"/>
                <a:cs typeface="Times New Roman" panose="02020603050405020304" pitchFamily="18" charset="0"/>
              </a:rPr>
              <a:t>Economía</a:t>
            </a:r>
            <a:r>
              <a:rPr lang="es-MX" dirty="0">
                <a:latin typeface="Times New Roman" panose="02020603050405020304" pitchFamily="18" charset="0"/>
                <a:cs typeface="Times New Roman" panose="02020603050405020304" pitchFamily="18" charset="0"/>
              </a:rPr>
              <a:t>, </a:t>
            </a:r>
            <a:r>
              <a:rPr lang="es-MX" i="1" dirty="0">
                <a:latin typeface="Times New Roman" panose="02020603050405020304" pitchFamily="18" charset="0"/>
                <a:cs typeface="Times New Roman" panose="02020603050405020304" pitchFamily="18" charset="0"/>
              </a:rPr>
              <a:t>44</a:t>
            </a:r>
            <a:r>
              <a:rPr lang="es-MX" dirty="0">
                <a:latin typeface="Times New Roman" panose="02020603050405020304" pitchFamily="18" charset="0"/>
                <a:cs typeface="Times New Roman" panose="02020603050405020304" pitchFamily="18" charset="0"/>
              </a:rPr>
              <a:t>(88), 45–75. </a:t>
            </a:r>
            <a:r>
              <a:rPr lang="es-MX" u="sng" dirty="0">
                <a:latin typeface="Times New Roman" panose="02020603050405020304" pitchFamily="18" charset="0"/>
                <a:cs typeface="Times New Roman" panose="02020603050405020304" pitchFamily="18" charset="0"/>
                <a:hlinkClick r:id="rId5"/>
              </a:rPr>
              <a:t>https://doi.org/10.18800/economia.202102.003</a:t>
            </a:r>
            <a:endParaRPr lang="en-US" u="sng"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Tello, M. D., &amp; Tello-Trillo, C. J. (2023). Preferential Trade Agreements and Productivity: Evidence from Peru. </a:t>
            </a:r>
            <a:r>
              <a:rPr lang="en-US" i="1" dirty="0">
                <a:latin typeface="Times New Roman" panose="02020603050405020304" pitchFamily="18" charset="0"/>
                <a:cs typeface="Times New Roman" panose="02020603050405020304" pitchFamily="18" charset="0"/>
              </a:rPr>
              <a:t>Economia</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46</a:t>
            </a:r>
            <a:r>
              <a:rPr lang="en-US" dirty="0">
                <a:latin typeface="Times New Roman" panose="02020603050405020304" pitchFamily="18" charset="0"/>
                <a:cs typeface="Times New Roman" panose="02020603050405020304" pitchFamily="18" charset="0"/>
              </a:rPr>
              <a:t>(91), 22–38. </a:t>
            </a:r>
            <a:r>
              <a:rPr lang="en-US" u="sng" dirty="0">
                <a:latin typeface="Times New Roman" panose="02020603050405020304" pitchFamily="18" charset="0"/>
                <a:cs typeface="Times New Roman" panose="02020603050405020304" pitchFamily="18" charset="0"/>
                <a:hlinkClick r:id="rId6"/>
              </a:rPr>
              <a:t>https://doi.org/10.18800/economia.202301.002</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World Bank. (</a:t>
            </a:r>
            <a:r>
              <a:rPr lang="en-US" dirty="0" err="1">
                <a:latin typeface="Times New Roman" panose="02020603050405020304" pitchFamily="18" charset="0"/>
                <a:cs typeface="Times New Roman" panose="02020603050405020304" pitchFamily="18" charset="0"/>
              </a:rPr>
              <a:t>s.f.</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World Bank Open Data</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7"/>
              </a:rPr>
              <a:t>World Bank Open Data</a:t>
            </a:r>
            <a:r>
              <a:rPr lang="en-US" dirty="0">
                <a:latin typeface="Times New Roman" panose="02020603050405020304" pitchFamily="18" charset="0"/>
                <a:cs typeface="Times New Roman" panose="02020603050405020304" pitchFamily="18" charset="0"/>
              </a:rPr>
              <a:t> </a:t>
            </a:r>
          </a:p>
          <a:p>
            <a:r>
              <a:rPr lang="es-MX" dirty="0" err="1">
                <a:latin typeface="Times New Roman" panose="02020603050405020304" pitchFamily="18" charset="0"/>
                <a:cs typeface="Times New Roman" panose="02020603050405020304" pitchFamily="18" charset="0"/>
              </a:rPr>
              <a:t>United</a:t>
            </a:r>
            <a:r>
              <a:rPr lang="es-MX" dirty="0">
                <a:latin typeface="Times New Roman" panose="02020603050405020304" pitchFamily="18" charset="0"/>
                <a:cs typeface="Times New Roman" panose="02020603050405020304" pitchFamily="18" charset="0"/>
              </a:rPr>
              <a:t> </a:t>
            </a:r>
            <a:r>
              <a:rPr lang="es-MX" dirty="0" err="1">
                <a:latin typeface="Times New Roman" panose="02020603050405020304" pitchFamily="18" charset="0"/>
                <a:cs typeface="Times New Roman" panose="02020603050405020304" pitchFamily="18" charset="0"/>
              </a:rPr>
              <a:t>Nations</a:t>
            </a:r>
            <a:r>
              <a:rPr lang="es-MX" dirty="0">
                <a:latin typeface="Times New Roman" panose="02020603050405020304" pitchFamily="18" charset="0"/>
                <a:cs typeface="Times New Roman" panose="02020603050405020304" pitchFamily="18" charset="0"/>
              </a:rPr>
              <a:t>. (s.f.). </a:t>
            </a:r>
            <a:r>
              <a:rPr lang="es-MX" i="1" dirty="0">
                <a:latin typeface="Times New Roman" panose="02020603050405020304" pitchFamily="18" charset="0"/>
                <a:cs typeface="Times New Roman" panose="02020603050405020304" pitchFamily="18" charset="0"/>
              </a:rPr>
              <a:t>UN </a:t>
            </a:r>
            <a:r>
              <a:rPr lang="es-MX" i="1" dirty="0" err="1">
                <a:latin typeface="Times New Roman" panose="02020603050405020304" pitchFamily="18" charset="0"/>
                <a:cs typeface="Times New Roman" panose="02020603050405020304" pitchFamily="18" charset="0"/>
              </a:rPr>
              <a:t>Comtrade</a:t>
            </a:r>
            <a:r>
              <a:rPr lang="es-MX" i="1" dirty="0">
                <a:latin typeface="Times New Roman" panose="02020603050405020304" pitchFamily="18" charset="0"/>
                <a:cs typeface="Times New Roman" panose="02020603050405020304" pitchFamily="18" charset="0"/>
              </a:rPr>
              <a:t> Plus </a:t>
            </a:r>
            <a:r>
              <a:rPr lang="es-MX" i="1" dirty="0" err="1">
                <a:latin typeface="Times New Roman" panose="02020603050405020304" pitchFamily="18" charset="0"/>
                <a:cs typeface="Times New Roman" panose="02020603050405020304" pitchFamily="18" charset="0"/>
              </a:rPr>
              <a:t>database</a:t>
            </a:r>
            <a:r>
              <a:rPr lang="es-MX" dirty="0">
                <a:latin typeface="Times New Roman" panose="02020603050405020304" pitchFamily="18" charset="0"/>
                <a:cs typeface="Times New Roman" panose="02020603050405020304" pitchFamily="18" charset="0"/>
              </a:rPr>
              <a:t>. </a:t>
            </a:r>
            <a:r>
              <a:rPr lang="es-MX" u="sng" dirty="0">
                <a:latin typeface="Times New Roman" panose="02020603050405020304" pitchFamily="18" charset="0"/>
                <a:cs typeface="Times New Roman" panose="02020603050405020304" pitchFamily="18" charset="0"/>
                <a:hlinkClick r:id="rId8"/>
              </a:rPr>
              <a:t>https://comtradeplus.un.org/</a:t>
            </a:r>
            <a:r>
              <a:rPr lang="es-MX" dirty="0">
                <a:latin typeface="Times New Roman" panose="02020603050405020304" pitchFamily="18" charset="0"/>
                <a:cs typeface="Times New Roman" panose="02020603050405020304" pitchFamily="18" charset="0"/>
              </a:rPr>
              <a:t> </a:t>
            </a:r>
          </a:p>
          <a:p>
            <a:endParaRPr lang="en-US" dirty="0"/>
          </a:p>
          <a:p>
            <a:endParaRPr lang="es-MX" dirty="0"/>
          </a:p>
          <a:p>
            <a:endParaRPr lang="es-MX" dirty="0"/>
          </a:p>
          <a:p>
            <a:endParaRPr lang="es-MX" dirty="0"/>
          </a:p>
        </p:txBody>
      </p:sp>
    </p:spTree>
    <p:extLst>
      <p:ext uri="{BB962C8B-B14F-4D97-AF65-F5344CB8AC3E}">
        <p14:creationId xmlns:p14="http://schemas.microsoft.com/office/powerpoint/2010/main" val="45634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3353</TotalTime>
  <Words>906</Words>
  <Application>Microsoft Office PowerPoint</Application>
  <PresentationFormat>Widescreen</PresentationFormat>
  <Paragraphs>58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 “Estimando del efecto de las importaciones chinas sobre el empleo  en el sector manufacturero : evidencia para el periodo (2010–2019)”</vt:lpstr>
      <vt:lpstr>Estado del Arte</vt:lpstr>
      <vt:lpstr>Brecha</vt:lpstr>
      <vt:lpstr>Pregunta </vt:lpstr>
      <vt:lpstr>Objetivo</vt:lpstr>
      <vt:lpstr>Contribución</vt:lpstr>
      <vt:lpstr>Datos</vt:lpstr>
      <vt:lpstr>Metodología </vt:lpstr>
      <vt:lpstr>Metodología </vt:lpstr>
      <vt:lpstr>Bibliografía</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dc:title>
  <dc:creator>hp elitebook</dc:creator>
  <cp:lastModifiedBy>hp elitebook</cp:lastModifiedBy>
  <cp:revision>42</cp:revision>
  <dcterms:created xsi:type="dcterms:W3CDTF">2026-04-20T00:42:10Z</dcterms:created>
  <dcterms:modified xsi:type="dcterms:W3CDTF">2026-05-07T23:14:03Z</dcterms:modified>
</cp:coreProperties>
</file>